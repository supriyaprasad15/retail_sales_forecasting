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56" r:id="rId3"/>
    <p:sldId id="257" r:id="rId4"/>
    <p:sldId id="258" r:id="rId5"/>
    <p:sldId id="259" r:id="rId6"/>
    <p:sldId id="262" r:id="rId7"/>
    <p:sldId id="263" r:id="rId8"/>
    <p:sldId id="26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1" d="100"/>
          <a:sy n="81" d="100"/>
        </p:scale>
        <p:origin x="96" y="27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4200D-706D-DBCB-58F6-D703EE1D42B6}"/>
              </a:ext>
            </a:extLst>
          </p:cNvPr>
          <p:cNvSpPr>
            <a:spLocks noGrp="1"/>
          </p:cNvSpPr>
          <p:nvPr>
            <p:ph type="title"/>
          </p:nvPr>
        </p:nvSpPr>
        <p:spPr/>
        <p:txBody>
          <a:bodyPr>
            <a:normAutofit fontScale="90000"/>
          </a:bodyPr>
          <a:lstStyle/>
          <a:p>
            <a:br>
              <a:rPr lang="en-IN" dirty="0"/>
            </a:br>
            <a:r>
              <a:rPr lang="en-IN" dirty="0"/>
              <a:t> </a:t>
            </a:r>
            <a:r>
              <a:rPr lang="en-IN" sz="3600" dirty="0">
                <a:latin typeface="Algerian" panose="04020705040A02060702" pitchFamily="82" charset="0"/>
              </a:rPr>
              <a:t>Retail Store Sales Forecasting </a:t>
            </a:r>
          </a:p>
        </p:txBody>
      </p:sp>
      <p:sp>
        <p:nvSpPr>
          <p:cNvPr id="3" name="TextBox 2">
            <a:extLst>
              <a:ext uri="{FF2B5EF4-FFF2-40B4-BE49-F238E27FC236}">
                <a16:creationId xmlns:a16="http://schemas.microsoft.com/office/drawing/2014/main" id="{F55F3C4E-8C57-CE61-3605-3397BF1A9ECE}"/>
              </a:ext>
            </a:extLst>
          </p:cNvPr>
          <p:cNvSpPr txBox="1"/>
          <p:nvPr/>
        </p:nvSpPr>
        <p:spPr>
          <a:xfrm>
            <a:off x="760020" y="2434442"/>
            <a:ext cx="5533901" cy="3693319"/>
          </a:xfrm>
          <a:prstGeom prst="rect">
            <a:avLst/>
          </a:prstGeom>
          <a:noFill/>
        </p:spPr>
        <p:txBody>
          <a:bodyPr wrap="square" rtlCol="0">
            <a:spAutoFit/>
          </a:bodyPr>
          <a:lstStyle/>
          <a:p>
            <a:r>
              <a:rPr lang="en-IN" b="1" u="sng" dirty="0"/>
              <a:t>Complete Rossmann end-to-end project</a:t>
            </a:r>
            <a:r>
              <a:rPr lang="en-IN" u="sng" dirty="0"/>
              <a:t>.</a:t>
            </a:r>
            <a:br>
              <a:rPr lang="en-IN" dirty="0"/>
            </a:br>
            <a:endParaRPr lang="en-IN" dirty="0"/>
          </a:p>
          <a:p>
            <a:r>
              <a:rPr lang="en-IN" dirty="0"/>
              <a:t>The process involves several key steps, including data preprocessing, model building (using both machine learning and deep learning approaches), evaluation, and deployment. The prediction task is central to the overall sales forecasting challenge and serves as the foundation for subsequent analysis and decision-making within the company</a:t>
            </a:r>
            <a:br>
              <a:rPr lang="en-IN" dirty="0"/>
            </a:br>
            <a:r>
              <a:rPr lang="en-IN" dirty="0"/>
              <a:t> The project covers the full workflow requested in the brief: EDA, feature engineering, ML, deep learning/LSTM, model serialization, </a:t>
            </a:r>
            <a:r>
              <a:rPr lang="en-IN" dirty="0" err="1"/>
              <a:t>MLflow</a:t>
            </a:r>
            <a:r>
              <a:rPr lang="en-IN" dirty="0"/>
              <a:t>, DVC, Flask deployment and submission generation.</a:t>
            </a:r>
          </a:p>
        </p:txBody>
      </p:sp>
      <p:pic>
        <p:nvPicPr>
          <p:cNvPr id="4" name="Picture 3" descr="Sales forecasting in retail: what we learned from the M5 competition | by Maxime Lutel | Artefact Engineering and Data Science | Medium">
            <a:extLst>
              <a:ext uri="{FF2B5EF4-FFF2-40B4-BE49-F238E27FC236}">
                <a16:creationId xmlns:a16="http://schemas.microsoft.com/office/drawing/2014/main" id="{05A604BF-9144-96EE-D719-740A16001B62}"/>
              </a:ext>
            </a:extLst>
          </p:cNvPr>
          <p:cNvPicPr>
            <a:picLocks noChangeAspect="1"/>
          </p:cNvPicPr>
          <p:nvPr/>
        </p:nvPicPr>
        <p:blipFill>
          <a:blip r:embed="rId2"/>
          <a:stretch>
            <a:fillRect/>
          </a:stretch>
        </p:blipFill>
        <p:spPr>
          <a:xfrm>
            <a:off x="7089569" y="1911927"/>
            <a:ext cx="4933083" cy="4263242"/>
          </a:xfrm>
          <a:prstGeom prst="rect">
            <a:avLst/>
          </a:prstGeom>
        </p:spPr>
      </p:pic>
    </p:spTree>
    <p:extLst>
      <p:ext uri="{BB962C8B-B14F-4D97-AF65-F5344CB8AC3E}">
        <p14:creationId xmlns:p14="http://schemas.microsoft.com/office/powerpoint/2010/main" val="3114792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9533511" cy="701238"/>
          </a:xfrm>
        </p:spPr>
        <p:txBody>
          <a:bodyPr>
            <a:normAutofit fontScale="90000"/>
          </a:bodyPr>
          <a:lstStyle/>
          <a:p>
            <a:br>
              <a:rPr lang="en-IN" dirty="0"/>
            </a:br>
            <a:r>
              <a:rPr lang="en-IN" sz="3600" dirty="0">
                <a:latin typeface="Algerian" panose="04020705040A02060702" pitchFamily="82" charset="0"/>
              </a:rPr>
              <a:t>Rossmann Sales Forecasting — Interim EDA</a:t>
            </a:r>
            <a:br>
              <a:rPr lang="en-IN" dirty="0"/>
            </a:br>
            <a:endParaRPr dirty="0"/>
          </a:p>
        </p:txBody>
      </p:sp>
      <p:pic>
        <p:nvPicPr>
          <p:cNvPr id="4" name="Picture 3" descr="promo_distribution.png"/>
          <p:cNvPicPr>
            <a:picLocks noChangeAspect="1"/>
          </p:cNvPicPr>
          <p:nvPr/>
        </p:nvPicPr>
        <p:blipFill>
          <a:blip r:embed="rId2"/>
          <a:stretch>
            <a:fillRect/>
          </a:stretch>
        </p:blipFill>
        <p:spPr>
          <a:xfrm>
            <a:off x="548640" y="1234440"/>
            <a:ext cx="5303520" cy="2651760"/>
          </a:xfrm>
          <a:prstGeom prst="rect">
            <a:avLst/>
          </a:prstGeom>
        </p:spPr>
      </p:pic>
      <p:sp>
        <p:nvSpPr>
          <p:cNvPr id="5" name="TextBox 4"/>
          <p:cNvSpPr txBox="1"/>
          <p:nvPr/>
        </p:nvSpPr>
        <p:spPr>
          <a:xfrm>
            <a:off x="771896" y="4099362"/>
            <a:ext cx="5617029" cy="2215991"/>
          </a:xfrm>
          <a:prstGeom prst="rect">
            <a:avLst/>
          </a:prstGeom>
          <a:noFill/>
        </p:spPr>
        <p:txBody>
          <a:bodyPr wrap="square">
            <a:spAutoFit/>
          </a:bodyPr>
          <a:lstStyle/>
          <a:p>
            <a:pPr>
              <a:spcAft>
                <a:spcPts val="1200"/>
              </a:spcAft>
              <a:defRPr sz="1800"/>
            </a:pPr>
            <a:r>
              <a:rPr dirty="0"/>
              <a:t>Dataset: 1.017M train rows, 41,088 test rows, 1,115 stores.</a:t>
            </a:r>
          </a:p>
          <a:p>
            <a:pPr>
              <a:spcAft>
                <a:spcPts val="1200"/>
              </a:spcAft>
              <a:defRPr sz="1800"/>
            </a:pPr>
            <a:r>
              <a:rPr dirty="0"/>
              <a:t>Promo prevalence is similar: 38.2% train vs 39.6% test.</a:t>
            </a:r>
          </a:p>
          <a:p>
            <a:pPr>
              <a:spcAft>
                <a:spcPts val="1200"/>
              </a:spcAft>
              <a:defRPr sz="1800"/>
            </a:pPr>
            <a:r>
              <a:rPr dirty="0"/>
              <a:t>Sales–Customers correlation for open stores: 0.824.</a:t>
            </a:r>
          </a:p>
          <a:p>
            <a:pPr>
              <a:spcAft>
                <a:spcPts val="1200"/>
              </a:spcAft>
              <a:defRPr sz="1800"/>
            </a:pPr>
            <a:r>
              <a:rPr dirty="0"/>
              <a:t>The data supports strong temporal, promotional and store-level segmentation.</a:t>
            </a:r>
          </a:p>
        </p:txBody>
      </p:sp>
      <p:pic>
        <p:nvPicPr>
          <p:cNvPr id="6" name="Picture 5" descr="🛍️ Retail Sales Forecasting &amp; Performance Dashboard (Power BI Case Study)">
            <a:extLst>
              <a:ext uri="{FF2B5EF4-FFF2-40B4-BE49-F238E27FC236}">
                <a16:creationId xmlns:a16="http://schemas.microsoft.com/office/drawing/2014/main" id="{F3A672A9-C77A-1214-E97E-744EB42380C5}"/>
              </a:ext>
            </a:extLst>
          </p:cNvPr>
          <p:cNvPicPr>
            <a:picLocks noChangeAspect="1"/>
          </p:cNvPicPr>
          <p:nvPr/>
        </p:nvPicPr>
        <p:blipFill>
          <a:blip r:embed="rId3"/>
          <a:stretch>
            <a:fillRect/>
          </a:stretch>
        </p:blipFill>
        <p:spPr>
          <a:xfrm>
            <a:off x="7220197" y="1413164"/>
            <a:ext cx="4678878" cy="47976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latin typeface="Algerian" panose="04020705040A02060702" pitchFamily="82" charset="0"/>
              </a:rPr>
              <a:t>Customer purchasing behaviour</a:t>
            </a:r>
            <a:endParaRPr sz="3600" dirty="0">
              <a:latin typeface="Algerian" panose="04020705040A02060702" pitchFamily="82" charset="0"/>
            </a:endParaRPr>
          </a:p>
        </p:txBody>
      </p:sp>
      <p:pic>
        <p:nvPicPr>
          <p:cNvPr id="4" name="Picture 3" descr="promo_effect.png"/>
          <p:cNvPicPr>
            <a:picLocks noChangeAspect="1"/>
          </p:cNvPicPr>
          <p:nvPr/>
        </p:nvPicPr>
        <p:blipFill>
          <a:blip r:embed="rId2"/>
          <a:stretch>
            <a:fillRect/>
          </a:stretch>
        </p:blipFill>
        <p:spPr>
          <a:xfrm>
            <a:off x="640080" y="1417638"/>
            <a:ext cx="5303520" cy="2651760"/>
          </a:xfrm>
          <a:prstGeom prst="rect">
            <a:avLst/>
          </a:prstGeom>
        </p:spPr>
      </p:pic>
      <p:sp>
        <p:nvSpPr>
          <p:cNvPr id="5" name="TextBox 4"/>
          <p:cNvSpPr txBox="1"/>
          <p:nvPr/>
        </p:nvSpPr>
        <p:spPr>
          <a:xfrm>
            <a:off x="640080" y="4069398"/>
            <a:ext cx="5608322" cy="2492990"/>
          </a:xfrm>
          <a:prstGeom prst="rect">
            <a:avLst/>
          </a:prstGeom>
          <a:noFill/>
        </p:spPr>
        <p:txBody>
          <a:bodyPr wrap="square">
            <a:spAutoFit/>
          </a:bodyPr>
          <a:lstStyle/>
          <a:p>
            <a:pPr>
              <a:spcAft>
                <a:spcPts val="1200"/>
              </a:spcAft>
              <a:defRPr sz="1800"/>
            </a:pPr>
            <a:r>
              <a:rPr dirty="0"/>
              <a:t>Promo is associated with mean sales increasing from 5,929 to 8,228.</a:t>
            </a:r>
          </a:p>
          <a:p>
            <a:pPr>
              <a:spcAft>
                <a:spcPts val="1200"/>
              </a:spcAft>
              <a:defRPr sz="1800"/>
            </a:pPr>
            <a:r>
              <a:rPr dirty="0"/>
              <a:t>Mean customers increase from 697 to 844 on promo days.</a:t>
            </a:r>
          </a:p>
          <a:p>
            <a:pPr>
              <a:spcAft>
                <a:spcPts val="1200"/>
              </a:spcAft>
              <a:defRPr sz="1800"/>
            </a:pPr>
            <a:r>
              <a:rPr dirty="0"/>
              <a:t>This is an association, not a causal estimate; promotion timing may be confounded by seasonality/day of week.</a:t>
            </a:r>
          </a:p>
          <a:p>
            <a:pPr>
              <a:spcAft>
                <a:spcPts val="1200"/>
              </a:spcAft>
              <a:defRPr sz="1800"/>
            </a:pPr>
            <a:r>
              <a:rPr dirty="0"/>
              <a:t>December has the strongest average open-store sales, indicating meaningful seasonality.</a:t>
            </a:r>
          </a:p>
        </p:txBody>
      </p:sp>
      <p:pic>
        <p:nvPicPr>
          <p:cNvPr id="6" name="Picture 5" descr="Consumer Buying Behaviour in 2025: Types, Process &amp; Key Factors">
            <a:extLst>
              <a:ext uri="{FF2B5EF4-FFF2-40B4-BE49-F238E27FC236}">
                <a16:creationId xmlns:a16="http://schemas.microsoft.com/office/drawing/2014/main" id="{D49B45A8-6681-8A58-41A9-DD20FDC99994}"/>
              </a:ext>
            </a:extLst>
          </p:cNvPr>
          <p:cNvPicPr>
            <a:picLocks noChangeAspect="1"/>
          </p:cNvPicPr>
          <p:nvPr/>
        </p:nvPicPr>
        <p:blipFill>
          <a:blip r:embed="rId3"/>
          <a:stretch>
            <a:fillRect/>
          </a:stretch>
        </p:blipFill>
        <p:spPr>
          <a:xfrm>
            <a:off x="6637523" y="1543792"/>
            <a:ext cx="5303520" cy="48926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74638"/>
            <a:ext cx="9280567" cy="1143000"/>
          </a:xfrm>
        </p:spPr>
        <p:txBody>
          <a:bodyPr>
            <a:normAutofit/>
          </a:bodyPr>
          <a:lstStyle/>
          <a:p>
            <a:r>
              <a:rPr lang="en-IN" sz="3200" dirty="0">
                <a:latin typeface="Algerian" panose="04020705040A02060702" pitchFamily="82" charset="0"/>
              </a:rPr>
              <a:t>Store, calendar and competition insights</a:t>
            </a:r>
            <a:endParaRPr sz="3200" dirty="0">
              <a:latin typeface="Algerian" panose="04020705040A02060702" pitchFamily="82" charset="0"/>
            </a:endParaRPr>
          </a:p>
        </p:txBody>
      </p:sp>
      <p:pic>
        <p:nvPicPr>
          <p:cNvPr id="4" name="Picture 3" descr="competition_distance.png"/>
          <p:cNvPicPr>
            <a:picLocks noChangeAspect="1"/>
          </p:cNvPicPr>
          <p:nvPr/>
        </p:nvPicPr>
        <p:blipFill>
          <a:blip r:embed="rId2"/>
          <a:stretch>
            <a:fillRect/>
          </a:stretch>
        </p:blipFill>
        <p:spPr>
          <a:xfrm>
            <a:off x="457199" y="1417638"/>
            <a:ext cx="5303520" cy="2651760"/>
          </a:xfrm>
          <a:prstGeom prst="rect">
            <a:avLst/>
          </a:prstGeom>
        </p:spPr>
      </p:pic>
      <p:sp>
        <p:nvSpPr>
          <p:cNvPr id="5" name="TextBox 4"/>
          <p:cNvSpPr txBox="1"/>
          <p:nvPr/>
        </p:nvSpPr>
        <p:spPr>
          <a:xfrm>
            <a:off x="605642" y="4381994"/>
            <a:ext cx="5842659" cy="2492990"/>
          </a:xfrm>
          <a:prstGeom prst="rect">
            <a:avLst/>
          </a:prstGeom>
          <a:noFill/>
        </p:spPr>
        <p:txBody>
          <a:bodyPr wrap="square">
            <a:spAutoFit/>
          </a:bodyPr>
          <a:lstStyle/>
          <a:p>
            <a:pPr>
              <a:spcAft>
                <a:spcPts val="1200"/>
              </a:spcAft>
              <a:defRPr sz="1800"/>
            </a:pPr>
            <a:r>
              <a:rPr dirty="0"/>
              <a:t>Only 10 stores are open on every observed weekday.</a:t>
            </a:r>
          </a:p>
          <a:p>
            <a:pPr>
              <a:spcAft>
                <a:spcPts val="1200"/>
              </a:spcAft>
              <a:defRPr sz="1800"/>
            </a:pPr>
            <a:r>
              <a:rPr dirty="0"/>
              <a:t>Weekend </a:t>
            </a:r>
            <a:r>
              <a:rPr dirty="0" err="1"/>
              <a:t>behaviour</a:t>
            </a:r>
            <a:r>
              <a:rPr dirty="0"/>
              <a:t> differs substantially between always-open and other stores.</a:t>
            </a:r>
          </a:p>
          <a:p>
            <a:pPr>
              <a:spcAft>
                <a:spcPts val="1200"/>
              </a:spcAft>
              <a:defRPr sz="1800"/>
            </a:pPr>
            <a:r>
              <a:rPr dirty="0"/>
              <a:t>Competitor distance has a non-linear relationship with sales.</a:t>
            </a:r>
          </a:p>
          <a:p>
            <a:pPr>
              <a:spcAft>
                <a:spcPts val="1200"/>
              </a:spcAft>
              <a:defRPr sz="1800"/>
            </a:pPr>
            <a:r>
              <a:rPr dirty="0"/>
              <a:t>Three stores have missing </a:t>
            </a:r>
            <a:r>
              <a:rPr dirty="0" err="1"/>
              <a:t>CompetitionDistance</a:t>
            </a:r>
            <a:r>
              <a:rPr dirty="0"/>
              <a:t>; the supplied store table has no time-varying competition-distance history.</a:t>
            </a:r>
          </a:p>
        </p:txBody>
      </p:sp>
      <p:pic>
        <p:nvPicPr>
          <p:cNvPr id="6" name="Picture 5" descr="Why You Need Comprehensive Competitor Analysis">
            <a:extLst>
              <a:ext uri="{FF2B5EF4-FFF2-40B4-BE49-F238E27FC236}">
                <a16:creationId xmlns:a16="http://schemas.microsoft.com/office/drawing/2014/main" id="{E9AE6213-299A-19D5-BB38-079088741BFE}"/>
              </a:ext>
            </a:extLst>
          </p:cNvPr>
          <p:cNvPicPr>
            <a:picLocks noChangeAspect="1"/>
          </p:cNvPicPr>
          <p:nvPr/>
        </p:nvPicPr>
        <p:blipFill>
          <a:blip r:embed="rId3"/>
          <a:stretch>
            <a:fillRect/>
          </a:stretch>
        </p:blipFill>
        <p:spPr>
          <a:xfrm>
            <a:off x="6662057" y="1542264"/>
            <a:ext cx="5420405" cy="504109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latin typeface="Algerian" panose="04020705040A02060702" pitchFamily="82" charset="0"/>
              </a:rPr>
              <a:t>Modelling direction and next steps</a:t>
            </a:r>
            <a:endParaRPr sz="3200" dirty="0">
              <a:latin typeface="Algerian" panose="04020705040A02060702" pitchFamily="82" charset="0"/>
            </a:endParaRPr>
          </a:p>
        </p:txBody>
      </p:sp>
      <p:pic>
        <p:nvPicPr>
          <p:cNvPr id="4" name="Picture 3" descr="lstm_forecast.png"/>
          <p:cNvPicPr>
            <a:picLocks noChangeAspect="1"/>
          </p:cNvPicPr>
          <p:nvPr/>
        </p:nvPicPr>
        <p:blipFill>
          <a:blip r:embed="rId2"/>
          <a:stretch>
            <a:fillRect/>
          </a:stretch>
        </p:blipFill>
        <p:spPr>
          <a:xfrm>
            <a:off x="6447114" y="2030681"/>
            <a:ext cx="5303520" cy="2410691"/>
          </a:xfrm>
          <a:prstGeom prst="rect">
            <a:avLst/>
          </a:prstGeom>
        </p:spPr>
      </p:pic>
      <p:sp>
        <p:nvSpPr>
          <p:cNvPr id="5" name="TextBox 4"/>
          <p:cNvSpPr txBox="1"/>
          <p:nvPr/>
        </p:nvSpPr>
        <p:spPr>
          <a:xfrm>
            <a:off x="296884" y="1520042"/>
            <a:ext cx="5303520" cy="3600986"/>
          </a:xfrm>
          <a:prstGeom prst="rect">
            <a:avLst/>
          </a:prstGeom>
          <a:noFill/>
        </p:spPr>
        <p:txBody>
          <a:bodyPr wrap="square">
            <a:spAutoFit/>
          </a:bodyPr>
          <a:lstStyle/>
          <a:p>
            <a:pPr>
              <a:spcAft>
                <a:spcPts val="1200"/>
              </a:spcAft>
              <a:defRPr sz="1800"/>
            </a:pPr>
            <a:r>
              <a:rPr lang="en-IN" dirty="0"/>
              <a:t>Trained the production </a:t>
            </a:r>
            <a:r>
              <a:rPr lang="en-IN" dirty="0" err="1"/>
              <a:t>LightGBM</a:t>
            </a:r>
            <a:r>
              <a:rPr lang="en-IN" dirty="0"/>
              <a:t> model using a chronological July 2015 validation set rather than randomly splitting the time series</a:t>
            </a:r>
            <a:r>
              <a:rPr dirty="0"/>
              <a:t>: RMSLE 0.0535, MAE 256, RMSPE 0.0573.</a:t>
            </a:r>
          </a:p>
          <a:p>
            <a:pPr>
              <a:spcAft>
                <a:spcPts val="1200"/>
              </a:spcAft>
              <a:defRPr sz="1800"/>
            </a:pPr>
            <a:r>
              <a:rPr dirty="0"/>
              <a:t>Production model: </a:t>
            </a:r>
            <a:r>
              <a:rPr dirty="0" err="1"/>
              <a:t>LightGBM</a:t>
            </a:r>
            <a:r>
              <a:rPr dirty="0"/>
              <a:t> in a </a:t>
            </a:r>
            <a:r>
              <a:rPr dirty="0" err="1"/>
              <a:t>sklearn</a:t>
            </a:r>
            <a:r>
              <a:rPr dirty="0"/>
              <a:t> Pipeline with date, holiday, promotion, store and competition features.</a:t>
            </a:r>
          </a:p>
          <a:p>
            <a:pPr>
              <a:spcAft>
                <a:spcPts val="1200"/>
              </a:spcAft>
              <a:defRPr sz="1800"/>
            </a:pPr>
            <a:r>
              <a:rPr dirty="0"/>
              <a:t>Deep-learning track: stationarity + ACF/PACF + (-1,1) scaling + two-layer LSTM.</a:t>
            </a:r>
          </a:p>
          <a:p>
            <a:pPr>
              <a:spcAft>
                <a:spcPts val="1200"/>
              </a:spcAft>
              <a:defRPr sz="1800"/>
            </a:pPr>
            <a:r>
              <a:rPr dirty="0"/>
              <a:t>Next: </a:t>
            </a:r>
            <a:r>
              <a:rPr dirty="0" err="1"/>
              <a:t>MLflow</a:t>
            </a:r>
            <a:r>
              <a:rPr dirty="0"/>
              <a:t> screenshots, DVC version screenshots, GitHub push and deploy Flask app.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4B44C-29D2-BA11-F11C-E02E84B5FF71}"/>
              </a:ext>
            </a:extLst>
          </p:cNvPr>
          <p:cNvSpPr>
            <a:spLocks noGrp="1"/>
          </p:cNvSpPr>
          <p:nvPr>
            <p:ph type="title"/>
          </p:nvPr>
        </p:nvSpPr>
        <p:spPr/>
        <p:txBody>
          <a:bodyPr>
            <a:normAutofit/>
          </a:bodyPr>
          <a:lstStyle/>
          <a:p>
            <a:r>
              <a:rPr lang="en-IN" sz="3200" dirty="0">
                <a:latin typeface="Algerian" panose="04020705040A02060702" pitchFamily="82" charset="0"/>
              </a:rPr>
              <a:t>Important EDA Findings &amp; FACTS</a:t>
            </a:r>
          </a:p>
        </p:txBody>
      </p:sp>
      <p:sp>
        <p:nvSpPr>
          <p:cNvPr id="4" name="TextBox 3">
            <a:extLst>
              <a:ext uri="{FF2B5EF4-FFF2-40B4-BE49-F238E27FC236}">
                <a16:creationId xmlns:a16="http://schemas.microsoft.com/office/drawing/2014/main" id="{4B37E7D0-9F19-232C-00C8-8B01A511B529}"/>
              </a:ext>
            </a:extLst>
          </p:cNvPr>
          <p:cNvSpPr txBox="1"/>
          <p:nvPr/>
        </p:nvSpPr>
        <p:spPr>
          <a:xfrm>
            <a:off x="457200" y="1603169"/>
            <a:ext cx="6596743" cy="4801314"/>
          </a:xfrm>
          <a:prstGeom prst="rect">
            <a:avLst/>
          </a:prstGeom>
          <a:noFill/>
        </p:spPr>
        <p:txBody>
          <a:bodyPr wrap="square">
            <a:spAutoFit/>
          </a:bodyPr>
          <a:lstStyle/>
          <a:p>
            <a:pPr marL="342900" lvl="0" indent="-342900">
              <a:buFont typeface="Arial" panose="020B0604020202020204" pitchFamily="34" charset="0"/>
              <a:buChar char="•"/>
            </a:pPr>
            <a:r>
              <a:rPr lang="en-IN" dirty="0"/>
              <a:t>Train promotion rate: </a:t>
            </a:r>
            <a:r>
              <a:rPr lang="en-IN" b="1" dirty="0"/>
              <a:t>38.15%</a:t>
            </a:r>
            <a:r>
              <a:rPr lang="en-IN" dirty="0"/>
              <a:t> </a:t>
            </a:r>
          </a:p>
          <a:p>
            <a:pPr marL="342900" lvl="0" indent="-342900">
              <a:buFont typeface="Arial" panose="020B0604020202020204" pitchFamily="34" charset="0"/>
              <a:buChar char="•"/>
            </a:pPr>
            <a:r>
              <a:rPr lang="en-IN" dirty="0"/>
              <a:t>Test promotion rate: </a:t>
            </a:r>
            <a:r>
              <a:rPr lang="en-IN" b="1" dirty="0"/>
              <a:t>39.58%</a:t>
            </a:r>
            <a:r>
              <a:rPr lang="en-IN" dirty="0"/>
              <a:t> </a:t>
            </a:r>
          </a:p>
          <a:p>
            <a:pPr marL="342900" lvl="0" indent="-342900">
              <a:buFont typeface="Arial" panose="020B0604020202020204" pitchFamily="34" charset="0"/>
              <a:buChar char="•"/>
            </a:pPr>
            <a:r>
              <a:rPr lang="en-IN" dirty="0"/>
              <a:t>Sales–Customers correlation: </a:t>
            </a:r>
            <a:r>
              <a:rPr lang="en-IN" b="1" dirty="0"/>
              <a:t>0.824</a:t>
            </a:r>
            <a:r>
              <a:rPr lang="en-IN" dirty="0"/>
              <a:t> </a:t>
            </a:r>
          </a:p>
          <a:p>
            <a:pPr marL="342900" lvl="0" indent="-342900">
              <a:buFont typeface="Arial" panose="020B0604020202020204" pitchFamily="34" charset="0"/>
              <a:buChar char="•"/>
            </a:pPr>
            <a:r>
              <a:rPr lang="en-IN" dirty="0"/>
              <a:t>Average open-store sales without promotion: </a:t>
            </a:r>
            <a:r>
              <a:rPr lang="en-IN" b="1" dirty="0"/>
              <a:t>5,929</a:t>
            </a:r>
            <a:r>
              <a:rPr lang="en-IN" dirty="0"/>
              <a:t> </a:t>
            </a:r>
          </a:p>
          <a:p>
            <a:pPr marL="342900" lvl="0" indent="-342900">
              <a:buFont typeface="Arial" panose="020B0604020202020204" pitchFamily="34" charset="0"/>
              <a:buChar char="•"/>
            </a:pPr>
            <a:r>
              <a:rPr lang="en-IN" dirty="0"/>
              <a:t>Average open-store sales with promotion: </a:t>
            </a:r>
            <a:r>
              <a:rPr lang="en-IN" b="1" dirty="0"/>
              <a:t>8,228</a:t>
            </a:r>
            <a:r>
              <a:rPr lang="en-IN" dirty="0"/>
              <a:t> </a:t>
            </a:r>
          </a:p>
          <a:p>
            <a:pPr marL="342900" lvl="0" indent="-342900">
              <a:buFont typeface="Arial" panose="020B0604020202020204" pitchFamily="34" charset="0"/>
              <a:buChar char="•"/>
            </a:pPr>
            <a:r>
              <a:rPr lang="en-IN" dirty="0"/>
              <a:t>December has the strongest average sales. </a:t>
            </a:r>
          </a:p>
          <a:p>
            <a:pPr marL="342900" lvl="0" indent="-342900">
              <a:buFont typeface="Arial" panose="020B0604020202020204" pitchFamily="34" charset="0"/>
              <a:buChar char="•"/>
            </a:pPr>
            <a:r>
              <a:rPr lang="en-IN" dirty="0"/>
              <a:t>Only </a:t>
            </a:r>
            <a:r>
              <a:rPr lang="en-IN" b="1" dirty="0"/>
              <a:t>10 stores</a:t>
            </a:r>
            <a:r>
              <a:rPr lang="en-IN" dirty="0"/>
              <a:t> are open on every observed weekday. </a:t>
            </a:r>
          </a:p>
          <a:p>
            <a:pPr marL="342900" lvl="0" indent="-342900">
              <a:buFont typeface="Arial" panose="020B0604020202020204" pitchFamily="34" charset="0"/>
              <a:buChar char="•"/>
            </a:pPr>
            <a:r>
              <a:rPr lang="en-IN" dirty="0"/>
              <a:t>Competitor distance shows a non-linear relationship with sales. </a:t>
            </a:r>
          </a:p>
          <a:p>
            <a:pPr marL="342900" lvl="0" indent="-342900">
              <a:buFont typeface="Arial" panose="020B0604020202020204" pitchFamily="34" charset="0"/>
              <a:buChar char="•"/>
            </a:pPr>
            <a:r>
              <a:rPr lang="en-IN" dirty="0"/>
              <a:t>Three stores have missing competitor-distance values.</a:t>
            </a:r>
            <a:br>
              <a:rPr lang="en-IN" dirty="0"/>
            </a:br>
            <a:br>
              <a:rPr lang="en-IN" dirty="0"/>
            </a:br>
            <a:endParaRPr lang="en-IN" dirty="0"/>
          </a:p>
          <a:p>
            <a:pPr marL="342900" lvl="0" indent="-342900">
              <a:buFont typeface="Arial" panose="020B0604020202020204" pitchFamily="34" charset="0"/>
              <a:buChar char="•"/>
            </a:pPr>
            <a:endParaRPr lang="en-IN" dirty="0"/>
          </a:p>
          <a:p>
            <a:r>
              <a:rPr lang="en-IN" dirty="0"/>
              <a:t>The dashboard is coded in:</a:t>
            </a:r>
          </a:p>
          <a:p>
            <a:r>
              <a:rPr lang="en-IN" dirty="0"/>
              <a:t>app.py</a:t>
            </a:r>
          </a:p>
          <a:p>
            <a:r>
              <a:rPr lang="en-IN" dirty="0"/>
              <a:t>templates/index.html</a:t>
            </a:r>
          </a:p>
          <a:p>
            <a:r>
              <a:rPr lang="en-IN" dirty="0"/>
              <a:t>static/style.css</a:t>
            </a:r>
          </a:p>
          <a:p>
            <a:pPr marL="342900" lvl="0" indent="-342900">
              <a:buFont typeface="Arial" panose="020B0604020202020204" pitchFamily="34" charset="0"/>
              <a:buChar char="•"/>
            </a:pPr>
            <a:endParaRPr lang="en-IN" dirty="0"/>
          </a:p>
        </p:txBody>
      </p:sp>
      <p:pic>
        <p:nvPicPr>
          <p:cNvPr id="6" name="Picture 5" descr="The 6 Types of AI Models – Genesis: Human Experience in the Age of Artificial Intelligence | Synthesis: The Superintelligence Protocol">
            <a:extLst>
              <a:ext uri="{FF2B5EF4-FFF2-40B4-BE49-F238E27FC236}">
                <a16:creationId xmlns:a16="http://schemas.microsoft.com/office/drawing/2014/main" id="{0802258D-5307-693D-70C2-904BC2EFF938}"/>
              </a:ext>
            </a:extLst>
          </p:cNvPr>
          <p:cNvPicPr>
            <a:picLocks noChangeAspect="1"/>
          </p:cNvPicPr>
          <p:nvPr/>
        </p:nvPicPr>
        <p:blipFill>
          <a:blip r:embed="rId2"/>
          <a:stretch>
            <a:fillRect/>
          </a:stretch>
        </p:blipFill>
        <p:spPr>
          <a:xfrm>
            <a:off x="6759577" y="1294410"/>
            <a:ext cx="5288952" cy="5288952"/>
          </a:xfrm>
          <a:prstGeom prst="rect">
            <a:avLst/>
          </a:prstGeom>
        </p:spPr>
      </p:pic>
    </p:spTree>
    <p:extLst>
      <p:ext uri="{BB962C8B-B14F-4D97-AF65-F5344CB8AC3E}">
        <p14:creationId xmlns:p14="http://schemas.microsoft.com/office/powerpoint/2010/main" val="281253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E7502-217E-A4C5-57A4-992B131F07DB}"/>
              </a:ext>
            </a:extLst>
          </p:cNvPr>
          <p:cNvSpPr>
            <a:spLocks noGrp="1"/>
          </p:cNvSpPr>
          <p:nvPr>
            <p:ph type="title"/>
          </p:nvPr>
        </p:nvSpPr>
        <p:spPr/>
        <p:txBody>
          <a:bodyPr>
            <a:normAutofit/>
          </a:bodyPr>
          <a:lstStyle/>
          <a:p>
            <a:r>
              <a:rPr lang="en-IN" sz="3200" dirty="0">
                <a:latin typeface="Algerian" panose="04020705040A02060702" pitchFamily="82" charset="0"/>
              </a:rPr>
              <a:t>How to Predict sales using Web UI</a:t>
            </a:r>
          </a:p>
        </p:txBody>
      </p:sp>
      <p:sp>
        <p:nvSpPr>
          <p:cNvPr id="4" name="TextBox 3">
            <a:extLst>
              <a:ext uri="{FF2B5EF4-FFF2-40B4-BE49-F238E27FC236}">
                <a16:creationId xmlns:a16="http://schemas.microsoft.com/office/drawing/2014/main" id="{D3A5B7FD-D111-AD6B-A5A3-90EB0FE05A37}"/>
              </a:ext>
            </a:extLst>
          </p:cNvPr>
          <p:cNvSpPr txBox="1"/>
          <p:nvPr/>
        </p:nvSpPr>
        <p:spPr>
          <a:xfrm>
            <a:off x="285009" y="2256312"/>
            <a:ext cx="2945080" cy="3416320"/>
          </a:xfrm>
          <a:prstGeom prst="rect">
            <a:avLst/>
          </a:prstGeom>
          <a:noFill/>
        </p:spPr>
        <p:txBody>
          <a:bodyPr wrap="square">
            <a:spAutoFit/>
          </a:bodyPr>
          <a:lstStyle/>
          <a:p>
            <a:r>
              <a:rPr lang="en-IN" dirty="0"/>
              <a:t>The project provides a Flask-based web UI where store managers can enter/upload required information such as Store ID, Date, Holiday, Weekend, and Promotion details. The UI then displays the predicted sales and customer numbers, along with a prediction plot, and allows the user to download the predictions as a CSV file.</a:t>
            </a:r>
          </a:p>
        </p:txBody>
      </p:sp>
      <p:pic>
        <p:nvPicPr>
          <p:cNvPr id="6" name="Picture 5">
            <a:extLst>
              <a:ext uri="{FF2B5EF4-FFF2-40B4-BE49-F238E27FC236}">
                <a16:creationId xmlns:a16="http://schemas.microsoft.com/office/drawing/2014/main" id="{3DC4E76F-1DE1-F01E-19F7-E4E5F6A57518}"/>
              </a:ext>
            </a:extLst>
          </p:cNvPr>
          <p:cNvPicPr>
            <a:picLocks noChangeAspect="1"/>
          </p:cNvPicPr>
          <p:nvPr/>
        </p:nvPicPr>
        <p:blipFill>
          <a:blip r:embed="rId2"/>
          <a:stretch>
            <a:fillRect/>
          </a:stretch>
        </p:blipFill>
        <p:spPr>
          <a:xfrm>
            <a:off x="4465123" y="1543792"/>
            <a:ext cx="7612082" cy="5179350"/>
          </a:xfrm>
          <a:prstGeom prst="rect">
            <a:avLst/>
          </a:prstGeom>
        </p:spPr>
      </p:pic>
    </p:spTree>
    <p:extLst>
      <p:ext uri="{BB962C8B-B14F-4D97-AF65-F5344CB8AC3E}">
        <p14:creationId xmlns:p14="http://schemas.microsoft.com/office/powerpoint/2010/main" val="830206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AC3C-C159-C465-3352-672141317198}"/>
              </a:ext>
            </a:extLst>
          </p:cNvPr>
          <p:cNvSpPr>
            <a:spLocks noGrp="1"/>
          </p:cNvSpPr>
          <p:nvPr>
            <p:ph type="title"/>
          </p:nvPr>
        </p:nvSpPr>
        <p:spPr>
          <a:xfrm>
            <a:off x="457200" y="274638"/>
            <a:ext cx="8229600" cy="711014"/>
          </a:xfrm>
        </p:spPr>
        <p:txBody>
          <a:bodyPr>
            <a:normAutofit/>
          </a:bodyPr>
          <a:lstStyle/>
          <a:p>
            <a:r>
              <a:rPr lang="en-IN" sz="3200" dirty="0">
                <a:latin typeface="Algerian" panose="04020705040A02060702" pitchFamily="82" charset="0"/>
              </a:rPr>
              <a:t>Prediction Result through Web UI</a:t>
            </a:r>
          </a:p>
        </p:txBody>
      </p:sp>
      <p:pic>
        <p:nvPicPr>
          <p:cNvPr id="6" name="Picture 5">
            <a:extLst>
              <a:ext uri="{FF2B5EF4-FFF2-40B4-BE49-F238E27FC236}">
                <a16:creationId xmlns:a16="http://schemas.microsoft.com/office/drawing/2014/main" id="{17A189D0-0C67-82DE-48B9-A948D95C2D18}"/>
              </a:ext>
            </a:extLst>
          </p:cNvPr>
          <p:cNvPicPr>
            <a:picLocks noChangeAspect="1"/>
          </p:cNvPicPr>
          <p:nvPr/>
        </p:nvPicPr>
        <p:blipFill>
          <a:blip r:embed="rId2"/>
          <a:stretch>
            <a:fillRect/>
          </a:stretch>
        </p:blipFill>
        <p:spPr>
          <a:xfrm>
            <a:off x="457200" y="1223158"/>
            <a:ext cx="5824848" cy="5360204"/>
          </a:xfrm>
          <a:prstGeom prst="rect">
            <a:avLst/>
          </a:prstGeom>
        </p:spPr>
      </p:pic>
      <p:pic>
        <p:nvPicPr>
          <p:cNvPr id="8" name="Picture 7">
            <a:extLst>
              <a:ext uri="{FF2B5EF4-FFF2-40B4-BE49-F238E27FC236}">
                <a16:creationId xmlns:a16="http://schemas.microsoft.com/office/drawing/2014/main" id="{0FDA1A6A-6684-2149-41EC-75B0FB6C5F4C}"/>
              </a:ext>
            </a:extLst>
          </p:cNvPr>
          <p:cNvPicPr>
            <a:picLocks noChangeAspect="1"/>
          </p:cNvPicPr>
          <p:nvPr/>
        </p:nvPicPr>
        <p:blipFill>
          <a:blip r:embed="rId3"/>
          <a:stretch>
            <a:fillRect/>
          </a:stretch>
        </p:blipFill>
        <p:spPr>
          <a:xfrm>
            <a:off x="6400799" y="1223158"/>
            <a:ext cx="5685761" cy="5360204"/>
          </a:xfrm>
          <a:prstGeom prst="rect">
            <a:avLst/>
          </a:prstGeom>
        </p:spPr>
      </p:pic>
    </p:spTree>
    <p:extLst>
      <p:ext uri="{BB962C8B-B14F-4D97-AF65-F5344CB8AC3E}">
        <p14:creationId xmlns:p14="http://schemas.microsoft.com/office/powerpoint/2010/main" val="1884611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50</TotalTime>
  <Words>519</Words>
  <Application>Microsoft Office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Algerian</vt:lpstr>
      <vt:lpstr>Arial</vt:lpstr>
      <vt:lpstr>Calibri</vt:lpstr>
      <vt:lpstr>Office Theme</vt:lpstr>
      <vt:lpstr>  Retail Store Sales Forecasting </vt:lpstr>
      <vt:lpstr> Rossmann Sales Forecasting — Interim EDA </vt:lpstr>
      <vt:lpstr>Customer purchasing behaviour</vt:lpstr>
      <vt:lpstr>Store, calendar and competition insights</vt:lpstr>
      <vt:lpstr>Modelling direction and next steps</vt:lpstr>
      <vt:lpstr>Important EDA Findings &amp; FACTS</vt:lpstr>
      <vt:lpstr>How to Predict sales using Web UI</vt:lpstr>
      <vt:lpstr>Prediction Result through Web UI</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Suvesh kumar</cp:lastModifiedBy>
  <cp:revision>26</cp:revision>
  <dcterms:created xsi:type="dcterms:W3CDTF">2013-01-27T09:14:16Z</dcterms:created>
  <dcterms:modified xsi:type="dcterms:W3CDTF">2026-09-12T11:38:40Z</dcterms:modified>
  <cp:category/>
</cp:coreProperties>
</file>